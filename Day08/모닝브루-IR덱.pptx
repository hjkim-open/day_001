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754880" y="0"/>
            <a:ext cx="743407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Morning Brew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429000"/>
            <a:ext cx="347472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하루를 차분히 내리는 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128016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IR  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2011680"/>
            <a:ext cx="6400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Investor Relations Deck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120640" y="2606040"/>
            <a:ext cx="5943600" cy="254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78892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동네 카페를 위한 AI 사전주문·단골 관리 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84048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대표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384048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김희정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224528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위치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42245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서울 마포구 망원동  ·  망원역 2번 출구 도보 6분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60857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영업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608576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화~일  08:00 – 20:00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499262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작성일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99262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2026년 6월 20일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6473952"/>
            <a:ext cx="7434072" cy="384048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0" y="6492240"/>
            <a:ext cx="6949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https://day01-hjkim-opens-projects.vercel.app  ·  @morningbrew_official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TABLE OF CONTENTS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목  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3736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6916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문제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020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출근길 카페 고객이 겪는 5가지 핵심 불편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3736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169164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솔루션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202082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AI 카카오톡 사전주문·단골 관리 매니저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6032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6060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2560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시장 기회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28895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망원동·마포구 동네 카페 시장 규모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256032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56032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제품 — 핵심 기능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288950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P0 MVP · P1 확장 기능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2900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747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사용자 시나리오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3758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출근길 주문 6단계 흐름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42900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347472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42900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경쟁 우위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37581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직접·간접 경쟁사 대비 차별화 포인트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29768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43434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42976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비즈니스 모델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수익 구조 · 월 구독 + 거래 수수료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9768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434340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95160" y="42976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구현 로드맵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95160" y="462686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4 Phase · 4주 일정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16636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2120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5166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KPI &amp; 성과 지표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54955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7대 핵심 측정 지표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5166360"/>
            <a:ext cx="50292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5212080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10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5166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팀 구성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60" y="549554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역할 분담 · 다음 단계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01 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출근길 카페 고객의 5가지 핵심 불편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망원역 2번 출구 경유 20~40대 직장인·거주민 대상 조사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2148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60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대기 시간 불안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15468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"5분 안에 받아야 해"
핸드드립 추출 시간이
출근길 발목을 잡는다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9192" y="1645920"/>
            <a:ext cx="2148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70632" y="181051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70632" y="2560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사전주문 채널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315468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"사이렌오더 되는 데로 가"
동선까지 갔다 돌아오는
기회 손실이 매일 반복된다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92624" y="1645920"/>
            <a:ext cx="2148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181051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2560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모닝 세트 부재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9784" y="315468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"스콘이 아직 안 나왔어요"
빈속 커피의 불편을
해결할 세트가 없다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06056" y="1645920"/>
            <a:ext cx="2148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97496" y="181051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7496" y="2560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1인 진입 부담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15468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"혼자 들어가기 눈치 보여"
1인 좌석이 있어도
외부에 메시지가 없으면 소용 없다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19488" y="1645920"/>
            <a:ext cx="2148840" cy="42976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10928" y="1810512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256032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재방문 동기 약함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56648" y="3154680"/>
            <a:ext cx="187451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"스벅은 10잔에 한 잔 공짜"
적립 없는 카페는
결국 단골을 뺏긴다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72200"/>
            <a:ext cx="11430000" cy="347472"/>
          </a:xfrm>
          <a:prstGeom prst="rect">
            <a:avLst/>
          </a:prstGeom>
          <a:solidFill>
            <a:srgbClr val="EC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17220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📌  "출근길에 들를 수 있는 핸드드립 카페 + 사전주문"  —  이 조합을 동선 위에서 제공하는 곳이 거의 없다.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02 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모닝브루 AI 매니저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카카오톡 채널 기반 AI 사전주문 · 단골 관리 솔루션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45920"/>
            <a:ext cx="5029200" cy="448056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카카오톡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31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모닝브루 채널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43891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  <a:latin typeface="Courier New"/>
                <a:ea typeface="Courier New"/>
              </a:rPr>
              <a:t>┌──────────────────────────┐
│ ☕ 모닝브루 AI 매니저      │
│                          │
│ AI: 지훈님, 어제처럼      │
│   에티오피아 핸드드립      │
│   + 수제 스콘 드릴까요?   │
│                          │
│  [네, 같은 걸로]  [메뉴]  │
│                          │
│ 픽업  08:10              │
│ [주문 확정하기]           │
└──────────────────────────┘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1645920"/>
            <a:ext cx="6217920" cy="1325880"/>
          </a:xfrm>
          <a:prstGeom prst="rect">
            <a:avLst/>
          </a:prstGeom>
          <a:solidFill>
            <a:srgbClr val="ECF5E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0" y="17830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⚡  3초 주문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0" y="217627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자연어 입력 → AI가 메뉴·픽업시간 확정
"응" 한 글자로 재주문 가능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0" y="3108960"/>
            <a:ext cx="6217920" cy="132588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24612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🧠  단골 기억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363931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과거 주문 이력으로 개인화 추천
10일 미방문 단골에 쿠폰 자동 발송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4572000"/>
            <a:ext cx="621792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0" y="470916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📊  사장님 대시보드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5102352"/>
            <a:ext cx="5852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주문 큐 자동 정렬 + 추출 5분 전 알림
1인 운영 과부하를 기술로 해결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6035040"/>
            <a:ext cx="1828800" cy="3657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6035040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Claude Sonnet 4.6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7808" y="6035040"/>
            <a:ext cx="1828800" cy="3657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53528" y="6035040"/>
            <a:ext cx="175564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Next.js 16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6035040"/>
            <a:ext cx="1280160" cy="3657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92056" y="6035040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Supabase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936224" y="6035040"/>
            <a:ext cx="1280160" cy="3657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81944" y="6035040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카카오 채널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2326112" y="6035040"/>
            <a:ext cx="1280160" cy="3657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71832" y="6035040"/>
            <a:ext cx="12070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Vercel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03  MARKET OPPORTUNITY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시장 기회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동네 카페의 디지털 전환 — 아직 아무도 해결하지 않은 문제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69164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망원역 도보권
동네 카페 추정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9164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&lt;5%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6060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모바일 사전주문
운영 비율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38160" y="1691640"/>
            <a:ext cx="35661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18288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₩3,750만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카페 1곳 연간
추정 기회 손실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* 출근 객 30명/일 × 5,000원 × 250 영업일 기준 추정값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069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확장 기회  —  망원동 → 마포구 → 서울 전역 동네 카페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663440"/>
            <a:ext cx="2651760" cy="14630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736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1
MVP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394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0F0E8"/>
                </a:solidFill>
                <a:latin typeface="Apple SD Gothic Neo"/>
                <a:latin typeface="Apple SD Gothic Neo"/>
                <a:ea typeface="Apple SD Gothic Neo"/>
              </a:rPr>
              <a:t>모닝브루 1곳
실증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749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91840" y="4663440"/>
            <a:ext cx="2651760" cy="1463040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4736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2
검증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5394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0F0E8"/>
                </a:solidFill>
                <a:latin typeface="Apple SD Gothic Neo"/>
                <a:latin typeface="Apple SD Gothic Neo"/>
                <a:ea typeface="Apple SD Gothic Neo"/>
              </a:rPr>
              <a:t>마포구
10곳 파일럿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0749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4663440"/>
            <a:ext cx="2651760" cy="146304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4736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3
확장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5394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0F0E8"/>
                </a:solidFill>
                <a:latin typeface="Apple SD Gothic Neo"/>
                <a:latin typeface="Apple SD Gothic Neo"/>
                <a:ea typeface="Apple SD Gothic Neo"/>
              </a:rPr>
              <a:t>서울 동네카페
100곳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507492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61120" y="4663440"/>
            <a:ext cx="2651760" cy="146304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4736592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4
스케일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6840" y="539496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E0F0E8"/>
                </a:solidFill>
                <a:latin typeface="Apple SD Gothic Neo"/>
                <a:latin typeface="Apple SD Gothic Neo"/>
                <a:ea typeface="Apple SD Gothic Neo"/>
              </a:rPr>
              <a:t>전국 독립카페
SaaS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04  PRODUCT — 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핵심 기능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MVP(P0)부터 단계적으로 검증하는 기능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00200"/>
            <a:ext cx="5394960" cy="4572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27632"/>
            <a:ext cx="52120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P0  —  MVP 필수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94560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94560"/>
            <a:ext cx="164592" cy="12344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286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카카오톡 챗봇 사전주문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974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"오늘 같은 거" 자연어 입력
→ 메뉴·옵션·픽업시간 AI 확정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47872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547872"/>
            <a:ext cx="164592" cy="12344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393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단골 식별 + 개인화 추천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050792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카카오 채널 친구 ID로
과거 이력 불러와 1줄 제안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901184"/>
            <a:ext cx="539496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901184"/>
            <a:ext cx="164592" cy="12344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992624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사장님 주문 큐 대시보드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04104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픽업시간 순 자동 정렬
핸드드립 추출 5분 전 알림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1600200"/>
            <a:ext cx="5760720" cy="45720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1627632"/>
            <a:ext cx="54864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P1  —  확장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2194560"/>
            <a:ext cx="5760720" cy="1234440"/>
          </a:xfrm>
          <a:prstGeom prst="rect">
            <a:avLst/>
          </a:prstGeom>
          <a:solidFill>
            <a:srgbClr val="FFFEFA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035040" y="2194560"/>
            <a:ext cx="164592" cy="123444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286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재고·매진 자동 안내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9748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스콘 N개 남았을 때 챗봇 알림
→ 자동 마감 처리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547872"/>
            <a:ext cx="5760720" cy="1234440"/>
          </a:xfrm>
          <a:prstGeom prst="rect">
            <a:avLst/>
          </a:prstGeom>
          <a:solidFill>
            <a:srgbClr val="FFFEFA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35040" y="3547872"/>
            <a:ext cx="164592" cy="123444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63931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AI 적립 — 단골 보상 자동 알림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050792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N잔째 방문 시 원두 1봉/스콘 쿠폰
카카오톡 자동 발송, 종이 쿠폰 불필요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4901184"/>
            <a:ext cx="5760720" cy="1234440"/>
          </a:xfrm>
          <a:prstGeom prst="rect">
            <a:avLst/>
          </a:prstGeom>
          <a:solidFill>
            <a:srgbClr val="FFFEFA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035040" y="4901184"/>
            <a:ext cx="164592" cy="123444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09360" y="499262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주간 단골 인사이트 리포트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404104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총 주문·신규 단골·AI 추천 채택률
장기 미방문 단골 [쿠폰 보내기]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6126480"/>
            <a:ext cx="11430000" cy="347472"/>
          </a:xfrm>
          <a:prstGeom prst="rect">
            <a:avLst/>
          </a:prstGeom>
          <a:solidFill>
            <a:srgbClr val="F4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144768"/>
            <a:ext cx="11064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✕ 자체 앱 개발  ·  ✕ 결제 직접 구축  ·  ✕ 딜리버리 연동  — 1인 사장님 운영 범위 밖은 처음부터 제외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05  USER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출근길 사전주문 — 6단계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박지훈 대리, 32세 · 망원동 거주 · 광화문 출근 · 매일 아침 커피 한 잔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41832" y="1691640"/>
            <a:ext cx="685800" cy="6858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07:55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채널 진입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카카오톡에서
모닝브루 채널을 연다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59" y="180136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07792" y="1691640"/>
            <a:ext cx="685800" cy="68580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0779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07:55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5915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AI 제안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5915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"지훈님, 어제처럼
핸드드립+스콘 드릴까요?"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19" y="180136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73752" y="1691640"/>
            <a:ext cx="685800" cy="68580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7375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07:56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511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1글자 확정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2511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"응" → AI가
08:10 픽업 확정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180136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39712" y="1691640"/>
            <a:ext cx="685800" cy="685800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3971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58A5A"/>
                </a:solidFill>
                <a:latin typeface="Apple SD Gothic Neo"/>
                <a:latin typeface="Apple SD Gothic Neo"/>
                <a:ea typeface="Apple SD Gothic Neo"/>
              </a:rPr>
              <a:t>08:05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9107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사장님 알림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9107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대시보드에 주문 표시
→ 지금 추출 시작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92439" y="180136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05672" y="1691640"/>
            <a:ext cx="685800" cy="6858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0567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8388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08:10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8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대기 0분 픽업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도착하면 이미 준비 완료
줄 없이 바로 픽업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399" y="1801368"/>
            <a:ext cx="228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→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771632" y="1691640"/>
            <a:ext cx="685800" cy="68580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771632" y="1728216"/>
            <a:ext cx="685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49840" y="24963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08:10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149840" y="2862072"/>
            <a:ext cx="1874519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22992" y="2953512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적립 자동 누적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3410712"/>
            <a:ext cx="1737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"이번 주 3번째!
다음 방문 스콘 할인 🌿"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0040" y="6108192"/>
            <a:ext cx="11521440" cy="38404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" y="61264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⏱ 총 소요 시간: 1분 미만  ·  📲 앱 설치 없음  ·  🎯 재주문은 "응" 한 글자  ·  ☕ 대기 0분 픽업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06  COMPETITIVE ADVANTAGE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경쟁 우위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모닝브루가 점령하는 빈 자리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182880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728216"/>
            <a:ext cx="17556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94560" y="1691640"/>
            <a:ext cx="155448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31136" y="1728216"/>
            <a:ext cx="1481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출근
(08~09시)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49040" y="1691640"/>
            <a:ext cx="155448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6" y="1728216"/>
            <a:ext cx="148132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사전주문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691640"/>
            <a:ext cx="137160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0096" y="1728216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핸드드립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691640"/>
            <a:ext cx="137160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1728216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1인좌석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691640"/>
            <a:ext cx="137160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83296" y="1728216"/>
            <a:ext cx="129844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적립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418320" y="1691640"/>
            <a:ext cx="1737360" cy="5486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54896" y="1728216"/>
            <a:ext cx="1664208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가격대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2240280"/>
            <a:ext cx="1828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" y="231343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카페A  스페셜티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94560" y="2240280"/>
            <a:ext cx="15544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31136" y="231343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 미오픈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49040" y="2240280"/>
            <a:ext cx="15544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85616" y="231343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24028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40096" y="231343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75120" y="224028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11696" y="231343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△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46720" y="224028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83296" y="231343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18320" y="2240280"/>
            <a:ext cx="173736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54896" y="231343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6,000원+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88920"/>
            <a:ext cx="18288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2336" y="286207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카페C  베이커리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194560" y="2788920"/>
            <a:ext cx="155448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31136" y="286207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40" y="2788920"/>
            <a:ext cx="155448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85616" y="286207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278892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40096" y="286207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278892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11696" y="286207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△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046720" y="278892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083296" y="286207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418320" y="2788920"/>
            <a:ext cx="173736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54896" y="286207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4,000원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3337560"/>
            <a:ext cx="18288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02336" y="341071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스타벅스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94560" y="3337560"/>
            <a:ext cx="15544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231136" y="341071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749040" y="3337560"/>
            <a:ext cx="15544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85616" y="341071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 사이렌오더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333756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40096" y="341071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675120" y="333756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711696" y="341071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337560"/>
            <a:ext cx="137160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83296" y="341071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 별적립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18320" y="3337560"/>
            <a:ext cx="173736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454896" y="341071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4,500원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886200"/>
            <a:ext cx="18288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02336" y="395935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저가 프랜차이즈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194560" y="3886200"/>
            <a:ext cx="155448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31136" y="395935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40" y="3886200"/>
            <a:ext cx="155448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85616" y="395935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 앱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388620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40096" y="395935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❌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675120" y="388620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711696" y="395935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△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046720" y="3886200"/>
            <a:ext cx="137160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083296" y="395935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✅ 앱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418320" y="3886200"/>
            <a:ext cx="1737360" cy="548640"/>
          </a:xfrm>
          <a:prstGeom prst="rect">
            <a:avLst/>
          </a:prstGeom>
          <a:solidFill>
            <a:srgbClr val="FAF7F3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454896" y="395935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1,500~2,000원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65760" y="4434840"/>
            <a:ext cx="182880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2336" y="4507992"/>
            <a:ext cx="17556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모닝브루 ★</a:t>
            </a:r>
          </a:p>
        </p:txBody>
      </p:sp>
      <p:sp>
        <p:nvSpPr>
          <p:cNvPr id="82" name="Rectangle 81"/>
          <p:cNvSpPr/>
          <p:nvPr/>
        </p:nvSpPr>
        <p:spPr>
          <a:xfrm>
            <a:off x="2194560" y="4434840"/>
            <a:ext cx="155448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2231136" y="450799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08:00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749040" y="4434840"/>
            <a:ext cx="155448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785616" y="4507992"/>
            <a:ext cx="14813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AI 매니저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303520" y="4434840"/>
            <a:ext cx="137160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5340096" y="450799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675120" y="4434840"/>
            <a:ext cx="137160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11696" y="450799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</a:t>
            </a:r>
          </a:p>
        </p:txBody>
      </p:sp>
      <p:sp>
        <p:nvSpPr>
          <p:cNvPr id="90" name="Rectangle 89"/>
          <p:cNvSpPr/>
          <p:nvPr/>
        </p:nvSpPr>
        <p:spPr>
          <a:xfrm>
            <a:off x="8046720" y="4434840"/>
            <a:ext cx="137160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83296" y="4507992"/>
            <a:ext cx="12984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AI 자동</a:t>
            </a:r>
          </a:p>
        </p:txBody>
      </p:sp>
      <p:sp>
        <p:nvSpPr>
          <p:cNvPr id="92" name="Rectangle 91"/>
          <p:cNvSpPr/>
          <p:nvPr/>
        </p:nvSpPr>
        <p:spPr>
          <a:xfrm>
            <a:off x="9418320" y="4434840"/>
            <a:ext cx="1737360" cy="548640"/>
          </a:xfrm>
          <a:prstGeom prst="rect">
            <a:avLst/>
          </a:prstGeom>
          <a:solidFill>
            <a:srgbClr val="ECF5EF"/>
          </a:solidFill>
          <a:ln w="381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54896" y="4507992"/>
            <a:ext cx="1664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4,500~5,500원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6576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모닝브루만의 3가지 차별화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365760" y="5532120"/>
            <a:ext cx="3657600" cy="640080"/>
          </a:xfrm>
          <a:prstGeom prst="rect">
            <a:avLst/>
          </a:prstGeom>
          <a:solidFill>
            <a:srgbClr val="F4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75488" y="5559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☕  핸드드립 전문성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75488" y="58064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기계 추출 프랜차이즈가 줄 수 없는
"한 잔씩 내려드리는" 경험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206240" y="5532120"/>
            <a:ext cx="3657600" cy="640080"/>
          </a:xfrm>
          <a:prstGeom prst="rect">
            <a:avLst/>
          </a:prstGeom>
          <a:solidFill>
            <a:srgbClr val="F4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315968" y="5559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🥐  당일 구운 스콘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315968" y="58064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어제 빵·공장 빵 대비
신선도 기반의 신뢰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046720" y="5532120"/>
            <a:ext cx="3657600" cy="64008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156448" y="555955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🤖  AI 사전주문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156448" y="5806440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동네 카페 최초
사이렌오더급 편의성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07  BUSINESS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비즈니스 모델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1인 사장님이 감당할 수 있는 구조 — 월 구독 + 성과 연동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2743200" cy="3291840"/>
          </a:xfrm>
          <a:prstGeom prst="rect">
            <a:avLst/>
          </a:prstGeom>
          <a:solidFill>
            <a:srgbClr val="ECF5E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스타터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67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₩49,000 / 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834640"/>
            <a:ext cx="2194560" cy="152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월 주문 ≤ 100건
사전주문 챗봇
주문 큐 대시보드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1691640"/>
            <a:ext cx="2743200" cy="3291840"/>
          </a:xfrm>
          <a:prstGeom prst="rect">
            <a:avLst/>
          </a:prstGeom>
          <a:solidFill>
            <a:srgbClr val="2F7A4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스탠다드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267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₩89,000 / 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566160" y="2834640"/>
            <a:ext cx="2194560" cy="15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무제한 주문
+ 단골 적립·쿠폰
+ 재고 자동 안내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691640"/>
            <a:ext cx="2743200" cy="3291840"/>
          </a:xfrm>
          <a:prstGeom prst="rect">
            <a:avLst/>
          </a:prstGeom>
          <a:solidFill>
            <a:srgbClr val="226039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182880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프리미엄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2677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₩149,000 / 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92240" y="2834640"/>
            <a:ext cx="2194560" cy="15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92608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스탠다드 全포함
+ 주간 인사이트
+ 전용 CS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69164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손익 분기 시나리오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52560" y="214884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89720" y="21945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MVP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9720" y="251460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모닝브루 1곳
실증 검증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61320" y="246888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매출 ₩0
(자체 운영)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560" y="324612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89720" y="329184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파일럿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61188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마포구 10곳
스탠다드 계약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61320" y="356616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월 ₩89만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60" y="4343400"/>
            <a:ext cx="2834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38912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BEP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709160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서울 30곳
혼합 계약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61320" y="4663440"/>
            <a:ext cx="1280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월 ₩200만+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12064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* 가격은 시장 검증 후 조정 예정  ·  초기 모닝브루 1곳은 자체 실증 운영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5623560"/>
            <a:ext cx="11430000" cy="502920"/>
          </a:xfrm>
          <a:prstGeom prst="rect">
            <a:avLst/>
          </a:prstGeom>
          <a:solidFill>
            <a:srgbClr val="F4E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핵심 가설  :  "사전주문으로 출근 시간대 객수 30% 증가" → 검증 후 외부 매장 구독 영업 개시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08 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구현 로드맵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4 Phase · 4주 집중 스프린트 → MVP 실증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691640"/>
            <a:ext cx="2651760" cy="59436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719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1주차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2395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🎯 목표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724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DB 모델링
백엔드 스캐폴딩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840480"/>
            <a:ext cx="2651760" cy="150876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904487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완료 조건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23367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Supabase 5개 테이블 생성
REST API 4개 정상 응답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691640"/>
            <a:ext cx="2651760" cy="59436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719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37560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2주차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55848" y="2395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🎯 목표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55848" y="2724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Claude 챗봇
핵심 로직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840480"/>
            <a:ext cx="2651760" cy="150876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3904487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완료 조건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55848" y="423367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"오늘 같은 거" 자연어
→ Order JSON 변환 통과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1691640"/>
            <a:ext cx="2651760" cy="59436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1719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3주차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36208" y="2395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🎯 목표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2724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카카오 채널
사장님 대시보드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840480"/>
            <a:ext cx="2651760" cy="150876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36208" y="3904487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완료 조건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36208" y="423367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카카오톡 주문
→ 대시보드 2초 내 표시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06840" y="1691640"/>
            <a:ext cx="2651760" cy="594360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17190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Phase 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20116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4주차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006840" y="2331720"/>
            <a:ext cx="26517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16568" y="239572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B58A5A"/>
                </a:solidFill>
                <a:latin typeface="Apple SD Gothic Neo"/>
                <a:latin typeface="Apple SD Gothic Neo"/>
                <a:ea typeface="Apple SD Gothic Neo"/>
              </a:rPr>
              <a:t>🎯 목표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16568" y="2724912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실매장 운영
테스트 + 배포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840480"/>
            <a:ext cx="2651760" cy="150876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16568" y="3904487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✅ 완료 조건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6568" y="4233672"/>
            <a:ext cx="23774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1주일 실사용
출근 시간대 주문 ≥ 20건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532120"/>
            <a:ext cx="11430000" cy="256032"/>
          </a:xfrm>
          <a:prstGeom prst="rect">
            <a:avLst/>
          </a:prstGeom>
          <a:solidFill>
            <a:srgbClr val="ECF5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5532120"/>
            <a:ext cx="2651760" cy="25603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463040" y="555955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W1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46120" y="5532120"/>
            <a:ext cx="2651760" cy="256032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555955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W2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5532120"/>
            <a:ext cx="2651760" cy="256032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0" y="555955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W3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06840" y="5532120"/>
            <a:ext cx="2651760" cy="256032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04120" y="5559552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W4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8521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* 각 Phase는 5~15분 단위 Task로 세분화 · Claude Code로 일별 진행 추적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09  KPI &amp; 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KPI &amp; 성과 측정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모두 시스템이 자동 측정 가능한 숫자 — 주관적 평가 없음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73736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737360"/>
            <a:ext cx="2743200" cy="146304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" y="19385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출근 시간대
사전주문 비율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≥ 40%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2724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2004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08:00~09:00 주문 /
전체 일일 주문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173736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46120" y="1737360"/>
            <a:ext cx="2743200" cy="146304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9385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AI 추천
채택률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≥ 60%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20440" y="312724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2004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제안 메뉴 그대로
확정 건수 / 전체 제안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73736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1737360"/>
            <a:ext cx="2743200" cy="146304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81928" y="19385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단골 식별
정확도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≥ 95%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46520" y="312724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004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동일 카카오 ID
매칭 정확도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98280" y="173736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098280" y="1737360"/>
            <a:ext cx="2743200" cy="146304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08008" y="193852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재방문
전환율(4주)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251460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B58A5A"/>
                </a:solidFill>
                <a:latin typeface="Apple SD Gothic Neo"/>
                <a:latin typeface="Apple SD Gothic Neo"/>
                <a:ea typeface="Apple SD Gothic Neo"/>
              </a:rPr>
              <a:t>≥ 35%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312724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320040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첫 주문 후 4주 내
재방문 고객 비율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93192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931920"/>
            <a:ext cx="2743200" cy="146304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" y="413308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응대 시간
절감률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47091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≥ 50%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32180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53949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도입 전후
주문당 응대 시간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393192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246120" y="3931920"/>
            <a:ext cx="2743200" cy="146304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55848" y="413308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챗봇 응답
속도 p95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91840" y="47091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≤ 1,500ms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20440" y="532180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37560" y="53949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주문 확정 메시지
수신까지 시간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3931920"/>
            <a:ext cx="2743200" cy="19659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3931920"/>
            <a:ext cx="2743200" cy="146304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81928" y="4133088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사장님
만족도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470916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≥ 4.3점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46520" y="5321808"/>
            <a:ext cx="2194560" cy="10160"/>
          </a:xfrm>
          <a:prstGeom prst="rect">
            <a:avLst/>
          </a:prstGeom>
          <a:solidFill>
            <a:srgbClr val="ECE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63640" y="5394960"/>
            <a:ext cx="25603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월별 5점 척도
설문 평균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3931920"/>
            <a:ext cx="2743200" cy="196596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25128" y="41605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4주 스프린트
종료 기준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25128" y="4754880"/>
            <a:ext cx="2514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7개 지표 중
5개 이상 목표 달성
→ Phase 2 확장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B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6583680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  ·  Morning Brew  ·  Confidential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28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10 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팀 구성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실증 → 검증 → 확장을 이끌 역할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63040"/>
            <a:ext cx="11247120" cy="1905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2743200" cy="50292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" y="17373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김희정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19659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대표 (Founder)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24028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" y="2313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담당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" y="256032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사업 기획 · 사용자 정의
KPI 설계 · 매장 운영 검증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66159"/>
            <a:ext cx="2743200" cy="96012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" y="36301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보유 스킬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" y="38862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前 카카오 이모티콘 서비스 총괄
現 AXG 경영리더 · KPC 코치
NLP·AI 학습 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461772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2F7A4F"/>
                </a:solidFill>
                <a:latin typeface="Apple SD Gothic Neo"/>
                <a:latin typeface="Apple SD Gothic Neo"/>
                <a:ea typeface="Apple SD Gothic Neo"/>
              </a:rPr>
              <a:t>hjkim.open@gmail.com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46120" y="1691640"/>
            <a:ext cx="2743200" cy="50292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55848" y="17373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[기술 리드]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55848" y="19659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개발 · 백엔드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24028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313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담당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55848" y="256032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DB 모델링 · Claude 챗봇 로직
API 개발 · 인프라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46120" y="3566159"/>
            <a:ext cx="2743200" cy="96012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55848" y="36301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6039"/>
                </a:solidFill>
                <a:latin typeface="Apple SD Gothic Neo"/>
                <a:latin typeface="Apple SD Gothic Neo"/>
                <a:ea typeface="Apple SD Gothic Neo"/>
              </a:rPr>
              <a:t>보유 스킬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848" y="38862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Node.js · TypeScript
Supabase · Vercel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1691640"/>
            <a:ext cx="2743200" cy="502920"/>
          </a:xfrm>
          <a:prstGeom prst="rect">
            <a:avLst/>
          </a:prstGeom>
          <a:solidFill>
            <a:srgbClr val="6B4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81928" y="17373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[프론트 리드]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81928" y="19659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프론트엔드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224028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81928" y="2313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담당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81928" y="256032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사장님 대시보드 UI
카카오톡 채널 메시지 카드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3566159"/>
            <a:ext cx="2743200" cy="96012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81928" y="36301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4A2B"/>
                </a:solidFill>
                <a:latin typeface="Apple SD Gothic Neo"/>
                <a:latin typeface="Apple SD Gothic Neo"/>
                <a:ea typeface="Apple SD Gothic Neo"/>
              </a:rPr>
              <a:t>보유 스킬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38862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Next.js 16
카카오 오픈빌더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098280" y="1691640"/>
            <a:ext cx="2743200" cy="502920"/>
          </a:xfrm>
          <a:prstGeom prst="rect">
            <a:avLst/>
          </a:prstGeom>
          <a:solidFill>
            <a:srgbClr val="B58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8008" y="1737360"/>
            <a:ext cx="2514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[데이터·KPI]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08008" y="1965960"/>
            <a:ext cx="2514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D0E8D8"/>
                </a:solidFill>
                <a:latin typeface="Apple SD Gothic Neo"/>
                <a:latin typeface="Apple SD Gothic Neo"/>
                <a:ea typeface="Apple SD Gothic Neo"/>
              </a:rPr>
              <a:t>데이터 분석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98280" y="2240280"/>
            <a:ext cx="274320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08008" y="231343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8A5A"/>
                </a:solidFill>
                <a:latin typeface="Apple SD Gothic Neo"/>
                <a:latin typeface="Apple SD Gothic Neo"/>
                <a:ea typeface="Apple SD Gothic Neo"/>
              </a:rPr>
              <a:t>담당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08008" y="256032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KPI 대시보드
실사용 테스트 · 인터뷰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098280" y="3566159"/>
            <a:ext cx="2743200" cy="960120"/>
          </a:xfrm>
          <a:prstGeom prst="rect">
            <a:avLst/>
          </a:prstGeom>
          <a:solidFill>
            <a:srgbClr val="F4ECE1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08008" y="3630168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58A5A"/>
                </a:solidFill>
                <a:latin typeface="Apple SD Gothic Neo"/>
                <a:latin typeface="Apple SD Gothic Neo"/>
                <a:ea typeface="Apple SD Gothic Neo"/>
              </a:rPr>
              <a:t>보유 스킬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08008" y="3886200"/>
            <a:ext cx="2514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5B524B"/>
                </a:solidFill>
                <a:latin typeface="Apple SD Gothic Neo"/>
                <a:latin typeface="Apple SD Gothic Neo"/>
                <a:ea typeface="Apple SD Gothic Neo"/>
              </a:rPr>
              <a:t>Analytics
A/B 테스트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" y="5074920"/>
            <a:ext cx="11521440" cy="32004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50932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다음 단계  —  팀 구성원 확정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0040" y="54406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1480" y="5486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① 현장 측정 1주일 + 고객 인터뷰 5명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46120" y="54406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37560" y="5486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② 카카오 비즈니스 채널 등록 신청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172200" y="54406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63640" y="5486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③ Phase 1 백엔드 스캐폴딩 착수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98280" y="54406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E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89720" y="5486400"/>
            <a:ext cx="2697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1A16"/>
                </a:solidFill>
                <a:latin typeface="Apple SD Gothic Neo"/>
                <a:latin typeface="Apple SD Gothic Neo"/>
                <a:ea typeface="Apple SD Gothic Neo"/>
              </a:rPr>
              <a:t>④ 네이버·카카오·구글 My Business 등록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7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0" y="-457200"/>
            <a:ext cx="4572000" cy="4572000"/>
          </a:xfrm>
          <a:prstGeom prst="rect">
            <a:avLst/>
          </a:prstGeom>
          <a:solidFill>
            <a:srgbClr val="2260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하루를 차분히 내리는 곳,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14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모닝브루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2900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5D8C4"/>
                </a:solidFill>
                <a:latin typeface="Apple SD Gothic Neo"/>
                <a:latin typeface="Apple SD Gothic Neo"/>
                <a:ea typeface="Apple SD Gothic Neo"/>
              </a:rPr>
              <a:t>Morning Brew  ·  AI 사전주문·단골 관리 솔루션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114800"/>
            <a:ext cx="457200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29768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김희정  ·  대표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81728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hjkim.open@gmail.com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65776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https://day01-hjkim-opens-projects.vercel.app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49824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ple SD Gothic Neo"/>
                <a:latin typeface="Apple SD Gothic Neo"/>
                <a:ea typeface="Apple SD Gothic Neo"/>
              </a:rPr>
              <a:t>@morningbrew_official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0B898"/>
                </a:solidFill>
                <a:latin typeface="Apple SD Gothic Neo"/>
                <a:latin typeface="Apple SD Gothic Neo"/>
                <a:ea typeface="Apple SD Gothic Neo"/>
              </a:rPr>
              <a:t>Confidential  ·  © 2026 모닝브루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